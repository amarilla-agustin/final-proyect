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5D9E2-A33E-4C36-A0C5-4BBE8E9D14B6}" v="155" dt="2026-09-08T14:26:21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C389A-39DA-4D3D-9FE5-FAE9691BDFE4}" type="datetimeFigureOut"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DC1C3-4905-4CB3-B0D3-119805A0D26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5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CDC53-6E3E-7D40-99F9-2A0D9273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C67E8-CB1A-A426-DD7E-66911C522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482A2-9FE4-619F-8458-5AC9CAC9B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FACB-EFC0-3FA5-8250-F50F15101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8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9E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967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adopción y uso de IA en empresas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549640" y="65196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Notebook del proyecto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42585" y="275846"/>
            <a:ext cx="11644615" cy="6140287"/>
          </a:xfrm>
          <a:prstGeom prst="roundRect">
            <a:avLst>
              <a:gd name="adj" fmla="val 4403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8552" y="9966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kern="0" spc="110" dirty="0">
              <a:solidFill>
                <a:srgbClr val="8DE0E5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88552" y="1353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88552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solidFill>
                <a:srgbClr val="D9E8F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resultados y conclusiones del notebook. La base no contiene ID de empresa y cubre 2023–2024.</a:t>
            </a:r>
            <a:endParaRPr lang="en-US" sz="7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DEA048-F46B-ACD9-3A8C-F1BAF4D4C120}"/>
              </a:ext>
            </a:extLst>
          </p:cNvPr>
          <p:cNvSpPr txBox="1"/>
          <p:nvPr/>
        </p:nvSpPr>
        <p:spPr>
          <a:xfrm>
            <a:off x="3109856" y="913597"/>
            <a:ext cx="59817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Análisis </a:t>
            </a:r>
            <a:endParaRPr lang="en-US" sz="4400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y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adopción de la IA en las </a:t>
            </a:r>
            <a:r>
              <a:rPr lang="es-419" sz="4400" b="1" dirty="0">
                <a:solidFill>
                  <a:schemeClr val="bg1"/>
                </a:solidFill>
              </a:rPr>
              <a:t>empresas</a:t>
            </a:r>
          </a:p>
        </p:txBody>
      </p:sp>
      <p:sp>
        <p:nvSpPr>
          <p:cNvPr id="2" name="Lágrima 1">
            <a:extLst>
              <a:ext uri="{FF2B5EF4-FFF2-40B4-BE49-F238E27FC236}">
                <a16:creationId xmlns:a16="http://schemas.microsoft.com/office/drawing/2014/main" id="{271D4E35-EEE6-FA29-C1D4-8576812AFDA2}"/>
              </a:ext>
            </a:extLst>
          </p:cNvPr>
          <p:cNvSpPr/>
          <p:nvPr/>
        </p:nvSpPr>
        <p:spPr>
          <a:xfrm>
            <a:off x="9412941" y="0"/>
            <a:ext cx="2779059" cy="2142565"/>
          </a:xfrm>
          <a:prstGeom prst="teardrop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72A5FAF-5D4D-A1B8-8F65-A5455F45D3ED}"/>
              </a:ext>
            </a:extLst>
          </p:cNvPr>
          <p:cNvSpPr/>
          <p:nvPr/>
        </p:nvSpPr>
        <p:spPr>
          <a:xfrm>
            <a:off x="547922" y="4771886"/>
            <a:ext cx="7815072" cy="8962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9EF3C9-C5EE-9952-0665-6FCFE738673D}"/>
              </a:ext>
            </a:extLst>
          </p:cNvPr>
          <p:cNvSpPr txBox="1"/>
          <p:nvPr/>
        </p:nvSpPr>
        <p:spPr>
          <a:xfrm>
            <a:off x="594360" y="4986629"/>
            <a:ext cx="7898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 análisis informativo de la evolución y adopción de la IA en las empresas durante 2023 – 2024 por </a:t>
            </a:r>
          </a:p>
          <a:p>
            <a:r>
              <a:rPr lang="es-A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Guillermo Seiler Kafka y Tobias Agustin Amarilla.</a:t>
            </a: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D8CD1F59-C4A9-6607-A105-1003EADEDD99}"/>
              </a:ext>
            </a:extLst>
          </p:cNvPr>
          <p:cNvSpPr/>
          <p:nvPr/>
        </p:nvSpPr>
        <p:spPr>
          <a:xfrm flipH="1">
            <a:off x="547922" y="4771886"/>
            <a:ext cx="46437" cy="8962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ADB8D-3F2A-D810-8736-F2E26848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5837B3-4E08-7AA7-03CF-0C09BF13A2E2}"/>
              </a:ext>
            </a:extLst>
          </p:cNvPr>
          <p:cNvSpPr/>
          <p:nvPr/>
        </p:nvSpPr>
        <p:spPr>
          <a:xfrm>
            <a:off x="566928" y="384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RESUMEN EJECUTIVO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441F1D-DCDA-4B76-FB12-1D9B3BE63A23}"/>
              </a:ext>
            </a:extLst>
          </p:cNvPr>
          <p:cNvSpPr/>
          <p:nvPr/>
        </p:nvSpPr>
        <p:spPr>
          <a:xfrm>
            <a:off x="566928" y="7315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23B5D"/>
                </a:solidFill>
              </a:rPr>
              <a:t>La adopción de IA se mantiene estable alrededor del 50%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3FCA82-4189-9384-71BC-8FAA9E631BA8}"/>
              </a:ext>
            </a:extLst>
          </p:cNvPr>
          <p:cNvSpPr/>
          <p:nvPr/>
        </p:nvSpPr>
        <p:spPr>
          <a:xfrm>
            <a:off x="566928" y="16733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587"/>
                </a:solidFill>
              </a:rPr>
              <a:t>La muestra no </a:t>
            </a:r>
            <a:r>
              <a:rPr lang="en-US" sz="1400" dirty="0" err="1">
                <a:solidFill>
                  <a:srgbClr val="667587"/>
                </a:solidFill>
              </a:rPr>
              <a:t>demuestra</a:t>
            </a:r>
            <a:r>
              <a:rPr lang="en-US" sz="1400" dirty="0">
                <a:solidFill>
                  <a:srgbClr val="667587"/>
                </a:solidFill>
              </a:rPr>
              <a:t> una brecha importante práctica por tamaño de </a:t>
            </a:r>
            <a:r>
              <a:rPr lang="en-US" sz="1400" dirty="0" err="1">
                <a:solidFill>
                  <a:srgbClr val="667587"/>
                </a:solidFill>
              </a:rPr>
              <a:t>empresa</a:t>
            </a:r>
            <a:r>
              <a:rPr lang="en-US" sz="1400" dirty="0">
                <a:solidFill>
                  <a:srgbClr val="667587"/>
                </a:solidFill>
              </a:rPr>
              <a:t> </a:t>
            </a:r>
            <a:r>
              <a:rPr lang="en-US" sz="1400" dirty="0" err="1">
                <a:solidFill>
                  <a:srgbClr val="667587"/>
                </a:solidFill>
              </a:rPr>
              <a:t>ni</a:t>
            </a:r>
            <a:r>
              <a:rPr lang="en-US" sz="1400" dirty="0">
                <a:solidFill>
                  <a:srgbClr val="667587"/>
                </a:solidFill>
              </a:rPr>
              <a:t> categoría de IA entre 2023 y 2024.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C5DDE3-8070-EEC2-89E5-01A31A48B63C}"/>
              </a:ext>
            </a:extLst>
          </p:cNvPr>
          <p:cNvSpPr/>
          <p:nvPr/>
        </p:nvSpPr>
        <p:spPr>
          <a:xfrm>
            <a:off x="566928" y="2448440"/>
            <a:ext cx="2487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1026EC1-E631-0601-FB39-551DEE29600B}"/>
              </a:ext>
            </a:extLst>
          </p:cNvPr>
          <p:cNvSpPr/>
          <p:nvPr/>
        </p:nvSpPr>
        <p:spPr>
          <a:xfrm>
            <a:off x="566928" y="2450592"/>
            <a:ext cx="54864" cy="1417320"/>
          </a:xfrm>
          <a:prstGeom prst="rect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1A71DD-E996-7F6B-8EF9-BF70C9B810B4}"/>
              </a:ext>
            </a:extLst>
          </p:cNvPr>
          <p:cNvSpPr/>
          <p:nvPr/>
        </p:nvSpPr>
        <p:spPr>
          <a:xfrm>
            <a:off x="786384" y="2615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50%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B7D026-B202-9A88-92B8-7B9AFDA9397F}"/>
              </a:ext>
            </a:extLst>
          </p:cNvPr>
          <p:cNvSpPr/>
          <p:nvPr/>
        </p:nvSpPr>
        <p:spPr>
          <a:xfrm>
            <a:off x="786384" y="30906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Adopción promedio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6D0212A-71F5-4892-D597-D572B727B96A}"/>
              </a:ext>
            </a:extLst>
          </p:cNvPr>
          <p:cNvSpPr/>
          <p:nvPr/>
        </p:nvSpPr>
        <p:spPr>
          <a:xfrm>
            <a:off x="786384" y="34381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orden de magnitud observado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6788B9-03AC-293B-ADD8-42310046E3ED}"/>
              </a:ext>
            </a:extLst>
          </p:cNvPr>
          <p:cNvSpPr/>
          <p:nvPr/>
        </p:nvSpPr>
        <p:spPr>
          <a:xfrm>
            <a:off x="3227832" y="2450592"/>
            <a:ext cx="2487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5EB295B-DDA5-5463-76BA-32AA723ABF57}"/>
              </a:ext>
            </a:extLst>
          </p:cNvPr>
          <p:cNvSpPr/>
          <p:nvPr/>
        </p:nvSpPr>
        <p:spPr>
          <a:xfrm>
            <a:off x="3227832" y="2450592"/>
            <a:ext cx="54864" cy="1417320"/>
          </a:xfrm>
          <a:prstGeom prst="rect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425058-7155-FA27-2936-A81886A7437C}"/>
              </a:ext>
            </a:extLst>
          </p:cNvPr>
          <p:cNvSpPr/>
          <p:nvPr/>
        </p:nvSpPr>
        <p:spPr>
          <a:xfrm>
            <a:off x="3447288" y="2615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−0,21 pp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5F4DBF-EAF6-9653-D42F-E90D375832E1}"/>
              </a:ext>
            </a:extLst>
          </p:cNvPr>
          <p:cNvSpPr/>
          <p:nvPr/>
        </p:nvSpPr>
        <p:spPr>
          <a:xfrm>
            <a:off x="3447288" y="30906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Adopción 2024 vs. 2023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3303A3-61B5-9930-CDCD-5F0A7543BD7E}"/>
              </a:ext>
            </a:extLst>
          </p:cNvPr>
          <p:cNvSpPr/>
          <p:nvPr/>
        </p:nvSpPr>
        <p:spPr>
          <a:xfrm>
            <a:off x="3447288" y="34381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50,02% → 49,81%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4AA6285-293D-C088-2EAC-BCB544EBA115}"/>
              </a:ext>
            </a:extLst>
          </p:cNvPr>
          <p:cNvSpPr/>
          <p:nvPr/>
        </p:nvSpPr>
        <p:spPr>
          <a:xfrm>
            <a:off x="5888736" y="2450592"/>
            <a:ext cx="2487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E212FCE-4605-FD61-ADFB-04A78748EB5A}"/>
              </a:ext>
            </a:extLst>
          </p:cNvPr>
          <p:cNvSpPr/>
          <p:nvPr/>
        </p:nvSpPr>
        <p:spPr>
          <a:xfrm>
            <a:off x="5888736" y="2450592"/>
            <a:ext cx="54864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10F7D9-154E-7FDA-5FE1-71757F81AC4D}"/>
              </a:ext>
            </a:extLst>
          </p:cNvPr>
          <p:cNvSpPr/>
          <p:nvPr/>
        </p:nvSpPr>
        <p:spPr>
          <a:xfrm>
            <a:off x="6108192" y="2615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+0,13%</a:t>
            </a:r>
            <a:endParaRPr lang="en-US"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667F252-9F92-9581-8D92-305481262B04}"/>
              </a:ext>
            </a:extLst>
          </p:cNvPr>
          <p:cNvSpPr/>
          <p:nvPr/>
        </p:nvSpPr>
        <p:spPr>
          <a:xfrm>
            <a:off x="6108192" y="30906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DAU promedio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AFC106F-E318-D0D4-42D2-A16C3A00303A}"/>
              </a:ext>
            </a:extLst>
          </p:cNvPr>
          <p:cNvSpPr/>
          <p:nvPr/>
        </p:nvSpPr>
        <p:spPr>
          <a:xfrm>
            <a:off x="6108192" y="34381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5.034 → 5.041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9BE47D7-AF53-ABE3-F1F5-F393EC7BF995}"/>
              </a:ext>
            </a:extLst>
          </p:cNvPr>
          <p:cNvSpPr/>
          <p:nvPr/>
        </p:nvSpPr>
        <p:spPr>
          <a:xfrm>
            <a:off x="8714232" y="713232"/>
            <a:ext cx="2907792" cy="3172968"/>
          </a:xfrm>
          <a:prstGeom prst="roundRect">
            <a:avLst>
              <a:gd name="adj" fmla="val 4403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030C6A-7D70-ABC1-31F1-CF7E1B4965B0}"/>
              </a:ext>
            </a:extLst>
          </p:cNvPr>
          <p:cNvSpPr/>
          <p:nvPr/>
        </p:nvSpPr>
        <p:spPr>
          <a:xfrm>
            <a:off x="8988552" y="9966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DE0E5"/>
                </a:solidFill>
              </a:rPr>
              <a:t>RECOMENDACIÓN PARA GERENCIA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549886E-F253-3938-ED58-A746240A72FE}"/>
              </a:ext>
            </a:extLst>
          </p:cNvPr>
          <p:cNvSpPr/>
          <p:nvPr/>
        </p:nvSpPr>
        <p:spPr>
          <a:xfrm>
            <a:off x="8988552" y="1353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Usar el análisis como línea base, no como criterio único de inversión.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C80AC5-F8C2-417C-EF57-8E217930C5C0}"/>
              </a:ext>
            </a:extLst>
          </p:cNvPr>
          <p:cNvSpPr/>
          <p:nvPr/>
        </p:nvSpPr>
        <p:spPr>
          <a:xfrm>
            <a:off x="8988552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E8F2"/>
                </a:solidFill>
              </a:rPr>
              <a:t>El siguiente salto de valor requiere datos más granulares sobre empresas, casos de uso, satisfacción y costos.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0EBF06-B719-4496-1E98-312815659CEF}"/>
              </a:ext>
            </a:extLst>
          </p:cNvPr>
          <p:cNvSpPr/>
          <p:nvPr/>
        </p:nvSpPr>
        <p:spPr>
          <a:xfrm>
            <a:off x="566928" y="4306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23B5D"/>
                </a:solidFill>
              </a:rPr>
              <a:t>MENSAJE CLAVE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88773FF-6E87-B5A2-4DB9-D634A202459F}"/>
              </a:ext>
            </a:extLst>
          </p:cNvPr>
          <p:cNvSpPr/>
          <p:nvPr/>
        </p:nvSpPr>
        <p:spPr>
          <a:xfrm>
            <a:off x="566928" y="46634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A2633"/>
                </a:solidFill>
              </a:rPr>
              <a:t>La señal dominante es estabilidad, no aceleración. Las diferencias entre segmentos son demasiado pequeñas para justificar por sí solas una priorización comercial.</a:t>
            </a: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A333F8B-E67B-DE43-B0A4-4D3B8517A6B6}"/>
              </a:ext>
            </a:extLst>
          </p:cNvPr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resultados y conclusiones del notebook. La base no contiene ID de empresa y cubre 2023–2024.</a:t>
            </a:r>
            <a:endParaRPr lang="en-US" sz="780" dirty="0"/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DDFDD5A8-A427-8880-F87B-0FA2475581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1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01 ·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955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¿Qué queremos entender sobre la adopción de IA?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108630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01952"/>
            <a:ext cx="48463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36192" y="18379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5D"/>
                </a:solidFill>
              </a:rPr>
              <a:t>Tamaño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70632" y="1810512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2633"/>
                </a:solidFill>
              </a:rPr>
              <a:t>¿Las empresas pequeñas, medianas o enterprise muestran niveles distintos de adopción?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715768"/>
            <a:ext cx="108630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926080"/>
            <a:ext cx="48463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980944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36192" y="28620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5D"/>
                </a:solidFill>
              </a:rPr>
              <a:t>Tecnología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0632" y="2834640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2633"/>
                </a:solidFill>
              </a:rPr>
              <a:t>¿IA de texto o de imagen presenta una ventaja consistente entre industrias?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739896"/>
            <a:ext cx="108630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950208"/>
            <a:ext cx="48463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00507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3619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5D"/>
                </a:solidFill>
              </a:rPr>
              <a:t>Evolución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70632" y="385876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2633"/>
                </a:solidFill>
              </a:rPr>
              <a:t>¿La adopción y el uso diario están acelerándose entre 2023 y 2024?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764024"/>
            <a:ext cx="108630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974336"/>
            <a:ext cx="48463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02920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36192" y="49103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5D"/>
                </a:solidFill>
              </a:rPr>
              <a:t>Engagement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70632" y="4882896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2633"/>
                </a:solidFill>
              </a:rPr>
              <a:t>¿La presencia de una herramienta en la muestra implica mayor uso diario?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5797296"/>
            <a:ext cx="10863072" cy="438912"/>
          </a:xfrm>
          <a:prstGeom prst="roundRect">
            <a:avLst>
              <a:gd name="adj" fmla="val 29167"/>
            </a:avLst>
          </a:prstGeom>
          <a:solidFill>
            <a:srgbClr val="EAF6F7"/>
          </a:solidFill>
          <a:ln w="12700">
            <a:solidFill>
              <a:srgbClr val="EAF6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91616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23B5D"/>
                </a:solidFill>
              </a:rPr>
              <a:t>Criterio de lectura: diferencias pequeñas en puntos porcentuales se consideran sin relevancia práctica.</a:t>
            </a:r>
            <a:endParaRPr lang="en-US" sz="9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02 · 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Base de análisis y alcance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La lectura es agregada: cada fila representa una observación de adopción y uso.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15798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64208"/>
            <a:ext cx="54864" cy="1234440"/>
          </a:xfrm>
          <a:prstGeom prst="rect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28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145.000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3042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registros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0944" y="1664208"/>
            <a:ext cx="215798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664208"/>
            <a:ext cx="54864" cy="12344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828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23042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664208"/>
            <a:ext cx="215798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664208"/>
            <a:ext cx="54864" cy="1234440"/>
          </a:xfrm>
          <a:prstGeom prst="rect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828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2023–2024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22976" y="23042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período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6096" y="1664208"/>
            <a:ext cx="215798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1664208"/>
            <a:ext cx="54864" cy="1234440"/>
          </a:xfrm>
          <a:prstGeom prst="rect">
            <a:avLst/>
          </a:prstGeom>
          <a:solidFill>
            <a:srgbClr val="2B8A6E"/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828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45552" y="23042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nulos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48672" y="166420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48672" y="1664208"/>
            <a:ext cx="54864" cy="12344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8128" y="18288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168128" y="23042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duplicados exactos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3200400"/>
            <a:ext cx="5212080" cy="29992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C8E9B"/>
                </a:solidFill>
              </a:rPr>
              <a:t>VARIABLES PRINCIPALES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2688" y="3895344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País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2688" y="4398264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3251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Industria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" y="4828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Herramienta de IA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2688" y="3895344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1352" y="5687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Tasa de adopción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2688" y="4398264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" y="3895344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38221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País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2688" y="4379976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2688" y="4864608"/>
            <a:ext cx="73152" cy="73152"/>
          </a:xfrm>
          <a:prstGeom prst="ellipse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688" y="5349240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52760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Tasa de adopción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32688" y="5833872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5760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DAU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64408" y="3895344"/>
            <a:ext cx="73152" cy="73152"/>
          </a:xfrm>
          <a:prstGeom prst="ellipse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38221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Año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64408" y="4379976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30682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Feedback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64408" y="4864608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4791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Grupo etario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64408" y="5349240"/>
            <a:ext cx="73152" cy="73152"/>
          </a:xfrm>
          <a:prstGeom prst="ellipse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52760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633"/>
                </a:solidFill>
              </a:rPr>
              <a:t>Tamaño de empresa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089904" y="3200400"/>
            <a:ext cx="5431536" cy="2359152"/>
          </a:xfrm>
          <a:prstGeom prst="roundRect">
            <a:avLst>
              <a:gd name="adj" fmla="val 542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3B5D"/>
                </a:solidFill>
              </a:rPr>
              <a:t>QUÉ PERMITE / QUÉ NO PERMITE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0" y="3941064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38679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2633"/>
                </a:solidFill>
              </a:rPr>
              <a:t>Sí: comparar niveles agregados de adopción y uso.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4425696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65392" y="43525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2633"/>
                </a:solidFill>
              </a:rPr>
              <a:t>Sí: describir diferencias por tamaño, industria y herramienta.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4910328"/>
            <a:ext cx="73152" cy="73152"/>
          </a:xfrm>
          <a:prstGeom prst="ellipse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65392" y="48371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2633"/>
                </a:solidFill>
              </a:rPr>
              <a:t>No: contar empresas únicas ni seguir la misma empresa entre años.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notebook, sección “Fuente y alcance del dataset” y “Limpieza y preparación”.</a:t>
            </a:r>
            <a:endParaRPr lang="en-US" sz="78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66" name="Shape 42">
            <a:extLst>
              <a:ext uri="{FF2B5EF4-FFF2-40B4-BE49-F238E27FC236}">
                <a16:creationId xmlns:a16="http://schemas.microsoft.com/office/drawing/2014/main" id="{CCEE2FFE-C39B-E79E-6152-F2B0ECE14534}"/>
              </a:ext>
            </a:extLst>
          </p:cNvPr>
          <p:cNvSpPr/>
          <p:nvPr/>
        </p:nvSpPr>
        <p:spPr>
          <a:xfrm>
            <a:off x="3282696" y="5896187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03 · 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De datos crudos a evidencia ejecutiva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Proceso reproducible y centrado en calidad, comparabilidad y lectura de negocio.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1993392" cy="214884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21408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578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10" dirty="0">
                <a:solidFill>
                  <a:srgbClr val="0C8E9B"/>
                </a:solidFill>
              </a:rPr>
              <a:t>VALIDACIÓN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86384" y="2898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633"/>
                </a:solidFill>
              </a:rPr>
              <a:t>Calidad del archivo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3511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587"/>
                </a:solidFill>
              </a:rPr>
              <a:t>145k filas · tipos · nulos · duplicados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51760" y="2743200"/>
            <a:ext cx="201168" cy="438912"/>
          </a:xfrm>
          <a:prstGeom prst="chevron">
            <a:avLst/>
          </a:prstGeom>
          <a:solidFill>
            <a:srgbClr val="C7D5DF"/>
          </a:solidFill>
          <a:ln w="12700">
            <a:solidFill>
              <a:srgbClr val="C7D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1920240"/>
            <a:ext cx="1993392" cy="214884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5808" y="2121408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35808" y="2578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10" dirty="0">
                <a:solidFill>
                  <a:srgbClr val="0C8E9B"/>
                </a:solidFill>
              </a:rPr>
              <a:t>PREPARACIÓN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3035808" y="2898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633"/>
                </a:solidFill>
              </a:rPr>
              <a:t>Estandarización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5808" y="3511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587"/>
                </a:solidFill>
              </a:rPr>
              <a:t>Categorías de IA y orden temporal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901184" y="2743200"/>
            <a:ext cx="201168" cy="438912"/>
          </a:xfrm>
          <a:prstGeom prst="chevron">
            <a:avLst/>
          </a:prstGeom>
          <a:solidFill>
            <a:srgbClr val="C7D5DF"/>
          </a:solidFill>
          <a:ln w="12700">
            <a:solidFill>
              <a:srgbClr val="C7D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920240"/>
            <a:ext cx="1993392" cy="214884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5232" y="2121408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2578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10" dirty="0">
                <a:solidFill>
                  <a:srgbClr val="0C8E9B"/>
                </a:solidFill>
              </a:rPr>
              <a:t>MÉTRICAS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5285232" y="2898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633"/>
                </a:solidFill>
              </a:rPr>
              <a:t>KPIs y variaciones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5232" y="3511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587"/>
                </a:solidFill>
              </a:rPr>
              <a:t>Adopción · DAU · YoY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150608" y="2743200"/>
            <a:ext cx="201168" cy="438912"/>
          </a:xfrm>
          <a:prstGeom prst="chevron">
            <a:avLst/>
          </a:prstGeom>
          <a:solidFill>
            <a:srgbClr val="C7D5DF"/>
          </a:solidFill>
          <a:ln w="12700">
            <a:solidFill>
              <a:srgbClr val="C7D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0064" y="1920240"/>
            <a:ext cx="1993392" cy="214884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2121408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4656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34656" y="2578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10" dirty="0">
                <a:solidFill>
                  <a:srgbClr val="0C8E9B"/>
                </a:solidFill>
              </a:rPr>
              <a:t>EDA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534656" y="2898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633"/>
                </a:solidFill>
              </a:rPr>
              <a:t>Comparaciones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34656" y="3511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587"/>
                </a:solidFill>
              </a:rPr>
              <a:t>Empresa · industria · herramienta · año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400032" y="2743200"/>
            <a:ext cx="201168" cy="438912"/>
          </a:xfrm>
          <a:prstGeom prst="chevron">
            <a:avLst/>
          </a:prstGeom>
          <a:solidFill>
            <a:srgbClr val="C7D5DF"/>
          </a:solidFill>
          <a:ln w="12700">
            <a:solidFill>
              <a:srgbClr val="C7D5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19488" y="1920240"/>
            <a:ext cx="1993392" cy="214884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121408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0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84080" y="2578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kern="0" spc="110" dirty="0">
                <a:solidFill>
                  <a:srgbClr val="0C8E9B"/>
                </a:solidFill>
              </a:rPr>
              <a:t>SÍNTESIS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9784080" y="2898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A2633"/>
                </a:solidFill>
              </a:rPr>
              <a:t>Hallazgos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84080" y="35112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587"/>
                </a:solidFill>
              </a:rPr>
              <a:t>Separar señal de diferencias marginales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21792" y="4626864"/>
            <a:ext cx="10863072" cy="960120"/>
          </a:xfrm>
          <a:prstGeom prst="roundRect">
            <a:avLst>
              <a:gd name="adj" fmla="val 13333"/>
            </a:avLst>
          </a:prstGeom>
          <a:solidFill>
            <a:srgbClr val="EAF6F7"/>
          </a:solidFill>
          <a:ln w="12700">
            <a:solidFill>
              <a:srgbClr val="EAF6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9560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B5D"/>
                </a:solidFill>
              </a:rPr>
              <a:t>interpretación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770632" y="491032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A2633"/>
                </a:solidFill>
              </a:rPr>
              <a:t>Una diferencia numérica no equivale automáticamente a una diferencia estratégica: el análisis prioriza magnitud, consistencia y limitaciones del dataset.</a:t>
            </a:r>
            <a:endParaRPr lang="en-US" sz="11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04 · KPIS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Panel ejecutivo de referencia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Tres indicadores resumen la señal principal; el resto aporta contexto.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273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64208"/>
            <a:ext cx="54864" cy="1572768"/>
          </a:xfrm>
          <a:prstGeom prst="rect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28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49,81%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30428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Adopción promedio ·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28072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vs. 50,02% en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05656" y="1664208"/>
            <a:ext cx="3273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05656" y="1664208"/>
            <a:ext cx="54864" cy="157276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828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5.041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25112" y="230428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DAU promedio · 2024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25112" y="28072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vs. 5.034 en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52944" y="1664208"/>
            <a:ext cx="3273552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52944" y="1664208"/>
            <a:ext cx="54864" cy="1572768"/>
          </a:xfrm>
          <a:prstGeom prst="rect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28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</a:rPr>
              <a:t>−0,21 pp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0" y="230428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633"/>
                </a:solidFill>
              </a:rPr>
              <a:t>Cambio de adopción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8072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587"/>
                </a:solidFill>
              </a:rPr>
              <a:t>variación 2023 → 2024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3B5D"/>
                </a:solidFill>
              </a:rPr>
              <a:t>TENDENCIA 2023 → 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4736592"/>
            <a:ext cx="2331720" cy="0"/>
          </a:xfrm>
          <a:prstGeom prst="line">
            <a:avLst/>
          </a:prstGeom>
          <a:noFill/>
          <a:ln w="38100">
            <a:solidFill>
              <a:srgbClr val="0C8E9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24128" y="4663440"/>
            <a:ext cx="146304" cy="146304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4663439"/>
            <a:ext cx="146304" cy="146304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001" y="4844167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50,02%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31820" y="48280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49,81%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72768" y="54132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Adopción promedio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08576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3B5D"/>
                </a:solidFill>
              </a:rPr>
              <a:t>USO DIARIO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47488" y="4736592"/>
            <a:ext cx="2304288" cy="0"/>
          </a:xfrm>
          <a:prstGeom prst="line">
            <a:avLst/>
          </a:prstGeom>
          <a:noFill/>
          <a:ln w="38100">
            <a:solidFill>
              <a:srgbClr val="6C5C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4336" y="4663440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2980" y="4663440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9011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5.034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06056" y="49149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5.041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87568" y="54132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DAU promedio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84464" y="3675888"/>
            <a:ext cx="3236976" cy="1947672"/>
          </a:xfrm>
          <a:prstGeom prst="roundRect">
            <a:avLst>
              <a:gd name="adj" fmla="val 6573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DE0E5"/>
                </a:solidFill>
              </a:rPr>
              <a:t>LECTURA GERENCIAL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40496" y="4315968"/>
            <a:ext cx="248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actividad diaria permanece prácticamente plana mientras la adopción cede levemente.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40496" y="52120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9E8F2"/>
                </a:solidFill>
              </a:rPr>
              <a:t>No hay señal de aceleración general en el período observado.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notebook, EDA 3 y KPIs principales.</a:t>
            </a:r>
            <a:endParaRPr lang="en-US" sz="78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05 · HALLAZGO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El tamaño de empresa no genera una brecha práctica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Las tres categorías se concentran prácticamente en el mismo nivel de adopción.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7824" y="5394960"/>
            <a:ext cx="7818120" cy="0"/>
          </a:xfrm>
          <a:prstGeom prst="line">
            <a:avLst/>
          </a:prstGeom>
          <a:noFill/>
          <a:ln w="8890">
            <a:solidFill>
              <a:srgbClr val="E1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303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87"/>
                </a:solidFill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77824" y="4652010"/>
            <a:ext cx="7818120" cy="0"/>
          </a:xfrm>
          <a:prstGeom prst="line">
            <a:avLst/>
          </a:prstGeom>
          <a:noFill/>
          <a:ln w="8890">
            <a:solidFill>
              <a:srgbClr val="E1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6057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87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77824" y="3909060"/>
            <a:ext cx="7818120" cy="0"/>
          </a:xfrm>
          <a:prstGeom prst="line">
            <a:avLst/>
          </a:prstGeom>
          <a:noFill/>
          <a:ln w="8890">
            <a:solidFill>
              <a:srgbClr val="E1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176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87"/>
                </a:solidFill>
              </a:rPr>
              <a:t>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77824" y="3166110"/>
            <a:ext cx="7818120" cy="0"/>
          </a:xfrm>
          <a:prstGeom prst="line">
            <a:avLst/>
          </a:prstGeom>
          <a:noFill/>
          <a:ln w="8890">
            <a:solidFill>
              <a:srgbClr val="E1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7467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87"/>
                </a:solidFill>
              </a:rPr>
              <a:t>75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77824" y="2423160"/>
            <a:ext cx="7818120" cy="0"/>
          </a:xfrm>
          <a:prstGeom prst="line">
            <a:avLst/>
          </a:prstGeom>
          <a:noFill/>
          <a:ln w="8890">
            <a:solidFill>
              <a:srgbClr val="E1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317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587"/>
                </a:solidFill>
              </a:rPr>
              <a:t>100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3907871"/>
            <a:ext cx="1600200" cy="1487089"/>
          </a:xfrm>
          <a:prstGeom prst="rect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87831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B5D"/>
                </a:solidFill>
              </a:rPr>
              <a:t>50,04%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532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633"/>
                </a:solidFill>
              </a:rPr>
              <a:t>Startup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913815"/>
            <a:ext cx="1600200" cy="1481145"/>
          </a:xfrm>
          <a:prstGeom prst="rect">
            <a:avLst/>
          </a:prstGeom>
          <a:solidFill>
            <a:srgbClr val="1D527A"/>
          </a:solidFill>
          <a:ln w="12700">
            <a:solidFill>
              <a:srgbClr val="1D52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59377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B5D"/>
                </a:solidFill>
              </a:rPr>
              <a:t>49,84%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5532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633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916787"/>
            <a:ext cx="1600200" cy="1478173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596747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B5D"/>
                </a:solidFill>
              </a:rPr>
              <a:t>49,74%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5532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633"/>
                </a:solidFill>
              </a:rPr>
              <a:t>SME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246120" cy="361188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2084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C8E9B"/>
                </a:solidFill>
              </a:rPr>
              <a:t>DIFERENCIA MÁXIMA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0496" y="246888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B5D"/>
                </a:solidFill>
              </a:rPr>
              <a:t>0,30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8558784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587"/>
                </a:solidFill>
              </a:rPr>
              <a:t>puntos porcentuales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58784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Conclusión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58784" y="38953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633"/>
                </a:solidFill>
              </a:rPr>
              <a:t>El tamaño de empresa, por sí solo, no permite priorizar un segmento comercial.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58784" y="4791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587"/>
                </a:solidFill>
              </a:rPr>
              <a:t>La diferencia observada es pequeña frente al nivel general de adopción.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notebook, EDA 1 y hallazgo principal por tamaño de empresa.</a:t>
            </a:r>
            <a:endParaRPr lang="en-US" sz="78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06 · HALLAZGOS 2 Y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Ni la categoría de IA ni el año muestran una ruptura clara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La señal es consistente: diferencias pequeñas y estabilidad agregada.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50749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470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0C8E9B"/>
                </a:solidFill>
              </a:rPr>
              <a:t>TEXTO VS. IMAGEN POR INDUSTRIA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23042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587"/>
                </a:solidFill>
              </a:rPr>
              <a:t>Brecha máxima observada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615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</a:rPr>
              <a:t>0,58 pp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32688" y="3364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33"/>
                </a:solidFill>
              </a:rPr>
              <a:t>Transporte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3465576"/>
            <a:ext cx="2514600" cy="0"/>
          </a:xfrm>
          <a:prstGeom prst="line">
            <a:avLst/>
          </a:prstGeom>
          <a:noFill/>
          <a:ln w="38100">
            <a:solidFill>
              <a:srgbClr val="C8D5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7675" y="340156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3401568"/>
            <a:ext cx="128016" cy="128016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4528" y="3604349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5CE7"/>
                </a:solidFill>
              </a:rPr>
              <a:t>Imagen 49,52%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46804" y="363178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C8E9B"/>
                </a:solidFill>
              </a:rPr>
              <a:t>Texto 50,10%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43159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33"/>
                </a:solidFill>
              </a:rPr>
              <a:t>Educación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4416552"/>
            <a:ext cx="2514600" cy="0"/>
          </a:xfrm>
          <a:prstGeom prst="line">
            <a:avLst/>
          </a:prstGeom>
          <a:noFill/>
          <a:ln w="38100">
            <a:solidFill>
              <a:srgbClr val="C8D5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3746" y="4352544"/>
            <a:ext cx="128016" cy="128016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9626" y="4352544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527" y="4581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C8E9B"/>
                </a:solidFill>
              </a:rPr>
              <a:t>Texto 49,56%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62966" y="45720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5CE7"/>
                </a:solidFill>
              </a:rPr>
              <a:t>Imagen 50,06%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5285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67587"/>
                </a:solidFill>
              </a:rPr>
              <a:t>La dirección de la diferencia cambia según la industria.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572768"/>
            <a:ext cx="5532120" cy="4251960"/>
          </a:xfrm>
          <a:prstGeom prst="roundRect">
            <a:avLst>
              <a:gd name="adj" fmla="val 30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847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23B5D"/>
                </a:solidFill>
              </a:rPr>
              <a:t>EVOLUCIÓN 2023 →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33"/>
                </a:solidFill>
              </a:rPr>
              <a:t>Adopción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31152" y="2642616"/>
            <a:ext cx="3246120" cy="0"/>
          </a:xfrm>
          <a:prstGeom prst="line">
            <a:avLst/>
          </a:prstGeom>
          <a:noFill/>
          <a:ln w="38100">
            <a:solidFill>
              <a:srgbClr val="0C8E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2560320"/>
            <a:ext cx="164592" cy="16459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94976" y="2377440"/>
            <a:ext cx="164592" cy="16459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292608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3B5D"/>
                </a:solidFill>
              </a:rPr>
              <a:t>50,02%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57232" y="274320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3B5D"/>
                </a:solidFill>
              </a:rPr>
              <a:t>49,81%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3346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33"/>
                </a:solidFill>
              </a:rPr>
              <a:t>DAU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31152" y="3721608"/>
            <a:ext cx="3246120" cy="0"/>
          </a:xfrm>
          <a:prstGeom prst="line">
            <a:avLst/>
          </a:prstGeom>
          <a:noFill/>
          <a:ln w="38100">
            <a:solidFill>
              <a:srgbClr val="6C5C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48856" y="3639312"/>
            <a:ext cx="164592" cy="16459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94976" y="3584448"/>
            <a:ext cx="164592" cy="16459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0050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3B5D"/>
                </a:solidFill>
              </a:rPr>
              <a:t>5.034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38944" y="393192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3B5D"/>
                </a:solidFill>
              </a:rPr>
              <a:t>5.041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91072" y="4526280"/>
            <a:ext cx="49194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47365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3B5D"/>
                </a:solidFill>
              </a:rPr>
              <a:t>Lectura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46908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2633"/>
                </a:solidFill>
              </a:rPr>
              <a:t>Adopción y uso diario permanecen esencialmente estables.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notebook, EDA 2 y EDA 3. Valores de extremos industriales explicitados en “Hallazgos principales”.</a:t>
            </a:r>
            <a:endParaRPr lang="en-US" sz="78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07 · HALLAZGO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Presencia en la muestra ≠ mayor engagement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La frecuencia de registros y el uso diario son dimensiones distintas.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5623560" cy="4315968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110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0C8E9B"/>
                </a:solidFill>
              </a:rPr>
              <a:t>PARTICIPACIÓN DE REGISTROS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50976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33"/>
                </a:solidFill>
              </a:rPr>
              <a:t>ChatGPT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2450592"/>
            <a:ext cx="3493008" cy="256032"/>
          </a:xfrm>
          <a:prstGeom prst="rect">
            <a:avLst/>
          </a:prstGeom>
          <a:solidFill>
            <a:srgbClr val="E9EFF4"/>
          </a:solidFill>
          <a:ln w="12700">
            <a:solidFill>
              <a:srgbClr val="E9EF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450592"/>
            <a:ext cx="1399032" cy="256032"/>
          </a:xfrm>
          <a:prstGeom prst="rect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2423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23B5D"/>
                </a:solidFill>
              </a:rPr>
              <a:t>40,03%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8254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587"/>
                </a:solidFill>
              </a:rPr>
              <a:t>58.045 registros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0976" y="341985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67587"/>
                </a:solidFill>
              </a:rPr>
              <a:t>Esto describe composición de la muestra, no empresas únicas.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40873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C5CE7"/>
                </a:solidFill>
              </a:rPr>
              <a:t>USO DIARIO PROMEDIO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4489027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633"/>
                </a:solidFill>
              </a:rPr>
              <a:t>Claude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4526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</a:rPr>
              <a:t>5.063,64 DAU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49697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633"/>
                </a:solidFill>
              </a:rPr>
              <a:t>ChatGPT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49743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</a:rPr>
              <a:t>5.030,00 DAU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46542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Diferencia: ≈ 34 DAU promedio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65392" y="1627632"/>
            <a:ext cx="4956048" cy="4315968"/>
          </a:xfrm>
          <a:prstGeom prst="roundRect">
            <a:avLst>
              <a:gd name="adj" fmla="val 296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938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DE0E5"/>
                </a:solidFill>
              </a:rPr>
              <a:t>IMPLICACIÓN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76288" y="2404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 elegir una herramienta solo por su “peso” en la base.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12864" y="3474720"/>
            <a:ext cx="73152" cy="73152"/>
          </a:xfrm>
          <a:prstGeom prst="ellipse">
            <a:avLst/>
          </a:prstGeom>
          <a:solidFill>
            <a:srgbClr val="8DE0E5"/>
          </a:solidFill>
          <a:ln w="12700">
            <a:solidFill>
              <a:srgbClr val="8DE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340156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7EFF5"/>
                </a:solidFill>
              </a:rPr>
              <a:t>La presencia de registros y el engagement miden cosas diferentes.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912864" y="4096512"/>
            <a:ext cx="73152" cy="73152"/>
          </a:xfrm>
          <a:prstGeom prst="ellipse">
            <a:avLst/>
          </a:prstGeom>
          <a:solidFill>
            <a:srgbClr val="8DE0E5"/>
          </a:solidFill>
          <a:ln w="12700">
            <a:solidFill>
              <a:srgbClr val="8DE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40233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7EFF5"/>
                </a:solidFill>
              </a:rPr>
              <a:t>La brecha de DAU entre Claude y ChatGPT es reducida.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912864" y="4718304"/>
            <a:ext cx="73152" cy="73152"/>
          </a:xfrm>
          <a:prstGeom prst="ellipse">
            <a:avLst/>
          </a:prstGeom>
          <a:solidFill>
            <a:srgbClr val="8DE0E5"/>
          </a:solidFill>
          <a:ln w="12700">
            <a:solidFill>
              <a:srgbClr val="8DE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4645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7EFF5"/>
                </a:solidFill>
              </a:rPr>
              <a:t>La decisión requiere costos, casos de uso y satisfacción.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94360" y="623620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7B8794"/>
                </a:solidFill>
              </a:rPr>
              <a:t>Fuente: notebook, EDA 4–5 y hallazgos principales.</a:t>
            </a:r>
            <a:endParaRPr lang="en-US" sz="78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0C8E9B"/>
                </a:solidFill>
              </a:rPr>
              <a:t>08 · CONCLUSIONES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Qué debería llevarse gerencia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La conclusión no es “comprar una herramienta”; es mejorar la calidad de la decisión.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658368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11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0C8E9B"/>
                </a:solidFill>
              </a:rPr>
              <a:t>3 CONCLUSIONES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" y="2423160"/>
            <a:ext cx="73152" cy="73152"/>
          </a:xfrm>
          <a:prstGeom prst="ellipse">
            <a:avLst/>
          </a:prstGeom>
          <a:solidFill>
            <a:srgbClr val="0C8E9B"/>
          </a:solidFill>
          <a:ln w="12700">
            <a:solidFill>
              <a:srgbClr val="0C8E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3500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A2633"/>
                </a:solidFill>
              </a:rPr>
              <a:t>La adopción agregada ronda el 50% y no presenta diferencias prácticas por tamaño o categoría.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50976" y="3145536"/>
            <a:ext cx="73152" cy="731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07238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A2633"/>
                </a:solidFill>
              </a:rPr>
              <a:t>2023–2024 muestra estabilidad: no hay evidencia de aceleración general en esta base.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50976" y="3867912"/>
            <a:ext cx="73152" cy="73152"/>
          </a:xfrm>
          <a:prstGeom prst="ellipse">
            <a:avLst/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7947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A2633"/>
                </a:solidFill>
              </a:rPr>
              <a:t>Presencia y engagement son métricas distintas; no alcanza con un ranking de registros o DAU.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" y="4590288"/>
            <a:ext cx="73152" cy="73152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51713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A2633"/>
                </a:solidFill>
              </a:rPr>
              <a:t>La prioridad analítica es enriquecer el contexto antes de tomar decisiones de inversión.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0" y="1627632"/>
            <a:ext cx="4023360" cy="3566160"/>
          </a:xfrm>
          <a:prstGeom prst="roundRect">
            <a:avLst>
              <a:gd name="adj" fmla="val 35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19110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3B5D"/>
                </a:solidFill>
              </a:rPr>
              <a:t>PRÓXIMO PASO RECOMENDADO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90688" y="2432304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4871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2450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33"/>
                </a:solidFill>
              </a:rPr>
              <a:t>ID de empresa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259232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587"/>
                </a:solidFill>
              </a:rPr>
              <a:t>medir adopción real por compañía y evolución longitudinal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790688" y="3273552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33284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32918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33"/>
                </a:solidFill>
              </a:rPr>
              <a:t>Casos de uso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34381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587"/>
                </a:solidFill>
              </a:rPr>
              <a:t>comparar utilidad por industria y herramienta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4114800"/>
            <a:ext cx="438912" cy="310896"/>
          </a:xfrm>
          <a:prstGeom prst="roundRect">
            <a:avLst>
              <a:gd name="adj" fmla="val 47059"/>
            </a:avLst>
          </a:prstGeom>
          <a:solidFill>
            <a:srgbClr val="E78B35"/>
          </a:solidFill>
          <a:ln w="12700">
            <a:solidFill>
              <a:srgbClr val="E78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4169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33"/>
                </a:solidFill>
              </a:rPr>
              <a:t>Costo + satisfacción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42565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587"/>
                </a:solidFill>
              </a:rPr>
              <a:t>sumar ROI, feedback y costos por herramienta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5422392"/>
            <a:ext cx="10863072" cy="512064"/>
          </a:xfrm>
          <a:prstGeom prst="roundRect">
            <a:avLst>
              <a:gd name="adj" fmla="val 25000"/>
            </a:avLst>
          </a:prstGeom>
          <a:solidFill>
            <a:srgbClr val="FFF4E7"/>
          </a:solidFill>
          <a:ln w="12700">
            <a:solidFill>
              <a:srgbClr val="FFF4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7784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8A5A1C"/>
                </a:solidFill>
              </a:rPr>
              <a:t>Limitación clave: solo hay dos años y no existe ID de empresa; los resultados son descriptivos y de alcance informativo.</a:t>
            </a:r>
            <a:endParaRPr lang="en-US" sz="96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2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1080</Words>
  <Application>Microsoft Office PowerPoint</Application>
  <PresentationFormat>Panorámica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de análisis de datos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Adopción y uso de IA en empresas</dc:title>
  <dc:subject>Adopción y uso de IA en empresas</dc:subject>
  <dc:creator>Análisis de Datos</dc:creator>
  <cp:lastModifiedBy>Azathot</cp:lastModifiedBy>
  <cp:revision>61</cp:revision>
  <dcterms:created xsi:type="dcterms:W3CDTF">2026-09-08T14:09:56Z</dcterms:created>
  <dcterms:modified xsi:type="dcterms:W3CDTF">2026-09-08T14:48:16Z</dcterms:modified>
</cp:coreProperties>
</file>