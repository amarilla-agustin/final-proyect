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25D9E2-A33E-4C36-A0C5-4BBE8E9D14B6}" v="155" dt="2026-09-08T14:26:21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0" d="100"/>
          <a:sy n="90" d="100"/>
        </p:scale>
        <p:origin x="37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8C389A-39DA-4D3D-9FE5-FAE9691BDFE4}" type="datetimeFigureOut">
              <a:t>8/9/2026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7DC1C3-4905-4CB3-B0D3-119805A0D269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154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CDC53-6E3E-7D40-99F9-2A0D92730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C67E8-CB1A-A426-DD7E-66911C52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5482A2-9FE4-619F-8458-5AC9CAC9B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0FACB-EFC0-3FA5-8250-F50F15101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983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9E2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519672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7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de adopción y uso de IA en empresas</a:t>
            </a:r>
            <a:endParaRPr lang="en-US" sz="820" dirty="0"/>
          </a:p>
        </p:txBody>
      </p:sp>
      <p:sp>
        <p:nvSpPr>
          <p:cNvPr id="5" name="Text 3"/>
          <p:cNvSpPr/>
          <p:nvPr/>
        </p:nvSpPr>
        <p:spPr>
          <a:xfrm>
            <a:off x="8549640" y="651967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6B77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Notebook del proyecto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242585" y="275846"/>
            <a:ext cx="11644615" cy="6140287"/>
          </a:xfrm>
          <a:prstGeom prst="roundRect">
            <a:avLst>
              <a:gd name="adj" fmla="val 4403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88552" y="996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b="1" kern="0" spc="110" dirty="0">
              <a:solidFill>
                <a:srgbClr val="8DE0E5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8988552" y="135331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800" b="1" dirty="0">
              <a:solidFill>
                <a:srgbClr val="FFFFFF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988552" y="248716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 dirty="0">
              <a:solidFill>
                <a:srgbClr val="D9E8F2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594360" y="6236208"/>
            <a:ext cx="10835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i="1" dirty="0">
                <a:solidFill>
                  <a:srgbClr val="7B8794"/>
                </a:solidFill>
              </a:rPr>
              <a:t>Fuente: resultados y conclusiones del notebook. La base no contiene ID de empresa y cubre 2023–2024.</a:t>
            </a:r>
            <a:endParaRPr lang="en-US" sz="78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DEA048-F46B-ACD9-3A8C-F1BAF4D4C120}"/>
              </a:ext>
            </a:extLst>
          </p:cNvPr>
          <p:cNvSpPr txBox="1"/>
          <p:nvPr/>
        </p:nvSpPr>
        <p:spPr>
          <a:xfrm>
            <a:off x="3109856" y="913597"/>
            <a:ext cx="5981700" cy="28007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Análisis </a:t>
            </a:r>
            <a:endParaRPr lang="en-US" sz="4400" dirty="0">
              <a:solidFill>
                <a:schemeClr val="bg1"/>
              </a:solidFill>
            </a:endParaRP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y 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adopción de la IA en las </a:t>
            </a:r>
            <a:r>
              <a:rPr lang="es-419" sz="4400" b="1" dirty="0">
                <a:solidFill>
                  <a:schemeClr val="bg1"/>
                </a:solidFill>
              </a:rPr>
              <a:t>empresas</a:t>
            </a:r>
          </a:p>
        </p:txBody>
      </p:sp>
      <p:sp>
        <p:nvSpPr>
          <p:cNvPr id="2" name="Lágrima 1">
            <a:extLst>
              <a:ext uri="{FF2B5EF4-FFF2-40B4-BE49-F238E27FC236}">
                <a16:creationId xmlns:a16="http://schemas.microsoft.com/office/drawing/2014/main" id="{271D4E35-EEE6-FA29-C1D4-8576812AFDA2}"/>
              </a:ext>
            </a:extLst>
          </p:cNvPr>
          <p:cNvSpPr/>
          <p:nvPr/>
        </p:nvSpPr>
        <p:spPr>
          <a:xfrm>
            <a:off x="9412941" y="0"/>
            <a:ext cx="2779059" cy="2142565"/>
          </a:xfrm>
          <a:prstGeom prst="teardrop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E72A5FAF-5D4D-A1B8-8F65-A5455F45D3ED}"/>
              </a:ext>
            </a:extLst>
          </p:cNvPr>
          <p:cNvSpPr/>
          <p:nvPr/>
        </p:nvSpPr>
        <p:spPr>
          <a:xfrm>
            <a:off x="547922" y="4771886"/>
            <a:ext cx="7815072" cy="8962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69EF3C9-C5EE-9952-0665-6FCFE738673D}"/>
              </a:ext>
            </a:extLst>
          </p:cNvPr>
          <p:cNvSpPr txBox="1"/>
          <p:nvPr/>
        </p:nvSpPr>
        <p:spPr>
          <a:xfrm>
            <a:off x="594360" y="4986629"/>
            <a:ext cx="78981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Un análisis informativo de la evolución y adopción de la IA en las empresas durante 2023 – 2024 por </a:t>
            </a:r>
          </a:p>
          <a:p>
            <a:r>
              <a:rPr lang="es-AR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Guillermo Seiler Kafka y Tobias Agustin Amarilla.</a:t>
            </a:r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D8CD1F59-C4A9-6607-A105-1003EADEDD99}"/>
              </a:ext>
            </a:extLst>
          </p:cNvPr>
          <p:cNvSpPr/>
          <p:nvPr/>
        </p:nvSpPr>
        <p:spPr>
          <a:xfrm flipH="1">
            <a:off x="547922" y="4771886"/>
            <a:ext cx="46437" cy="8962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CADB8D-3F2A-D810-8736-F2E268483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35837B3-4E08-7AA7-03CF-0C09BF13A2E2}"/>
              </a:ext>
            </a:extLst>
          </p:cNvPr>
          <p:cNvSpPr/>
          <p:nvPr/>
        </p:nvSpPr>
        <p:spPr>
          <a:xfrm>
            <a:off x="566928" y="3840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RESUMEN EJECUTIVO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6441F1D-DCDA-4B76-FB12-1D9B3BE63A23}"/>
              </a:ext>
            </a:extLst>
          </p:cNvPr>
          <p:cNvSpPr/>
          <p:nvPr/>
        </p:nvSpPr>
        <p:spPr>
          <a:xfrm>
            <a:off x="566928" y="7315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23B5D"/>
                </a:solidFill>
              </a:rPr>
              <a:t>La adopción de IA se mantiene estable alrededor del 50%</a:t>
            </a:r>
            <a:endParaRPr lang="en-US" sz="2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E3FCA82-4189-9384-71BC-8FAA9E631BA8}"/>
              </a:ext>
            </a:extLst>
          </p:cNvPr>
          <p:cNvSpPr/>
          <p:nvPr/>
        </p:nvSpPr>
        <p:spPr>
          <a:xfrm>
            <a:off x="566928" y="167335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67587"/>
                </a:solidFill>
              </a:rPr>
              <a:t>La muestra no muestra una brecha práctica por tamaño de empresa, categoría de IA ni entre 2023 y 2024.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0C5DDE3-8070-EEC2-89E5-01A31A48B63C}"/>
              </a:ext>
            </a:extLst>
          </p:cNvPr>
          <p:cNvSpPr/>
          <p:nvPr/>
        </p:nvSpPr>
        <p:spPr>
          <a:xfrm>
            <a:off x="566928" y="2448440"/>
            <a:ext cx="2487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1026EC1-E631-0601-FB39-551DEE29600B}"/>
              </a:ext>
            </a:extLst>
          </p:cNvPr>
          <p:cNvSpPr/>
          <p:nvPr/>
        </p:nvSpPr>
        <p:spPr>
          <a:xfrm>
            <a:off x="566928" y="2450592"/>
            <a:ext cx="54864" cy="1417320"/>
          </a:xfrm>
          <a:prstGeom prst="rect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91A71DD-E996-7F6B-8EF9-BF70C9B810B4}"/>
              </a:ext>
            </a:extLst>
          </p:cNvPr>
          <p:cNvSpPr/>
          <p:nvPr/>
        </p:nvSpPr>
        <p:spPr>
          <a:xfrm>
            <a:off x="786384" y="2615184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50%</a:t>
            </a:r>
            <a:endParaRPr lang="en-US" sz="2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3B7D026-B202-9A88-92B8-7B9AFDA9397F}"/>
              </a:ext>
            </a:extLst>
          </p:cNvPr>
          <p:cNvSpPr/>
          <p:nvPr/>
        </p:nvSpPr>
        <p:spPr>
          <a:xfrm>
            <a:off x="786384" y="309067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Adopción promedio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6D0212A-71F5-4892-D597-D572B727B96A}"/>
              </a:ext>
            </a:extLst>
          </p:cNvPr>
          <p:cNvSpPr/>
          <p:nvPr/>
        </p:nvSpPr>
        <p:spPr>
          <a:xfrm>
            <a:off x="786384" y="3438144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587"/>
                </a:solidFill>
              </a:rPr>
              <a:t>orden de magnitud observado</a:t>
            </a:r>
            <a:endParaRPr lang="en-US" sz="9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46788B9-03AC-293B-ADD8-42310046E3ED}"/>
              </a:ext>
            </a:extLst>
          </p:cNvPr>
          <p:cNvSpPr/>
          <p:nvPr/>
        </p:nvSpPr>
        <p:spPr>
          <a:xfrm>
            <a:off x="3227832" y="2450592"/>
            <a:ext cx="2487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5EB295B-DDA5-5463-76BA-32AA723ABF57}"/>
              </a:ext>
            </a:extLst>
          </p:cNvPr>
          <p:cNvSpPr/>
          <p:nvPr/>
        </p:nvSpPr>
        <p:spPr>
          <a:xfrm>
            <a:off x="3227832" y="2450592"/>
            <a:ext cx="54864" cy="1417320"/>
          </a:xfrm>
          <a:prstGeom prst="rect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425058-7155-FA27-2936-A81886A7437C}"/>
              </a:ext>
            </a:extLst>
          </p:cNvPr>
          <p:cNvSpPr/>
          <p:nvPr/>
        </p:nvSpPr>
        <p:spPr>
          <a:xfrm>
            <a:off x="3447288" y="2615184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−0,21 pp</a:t>
            </a:r>
            <a:endParaRPr lang="en-US" sz="2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05F4DBF-EAF6-9653-D42F-E90D375832E1}"/>
              </a:ext>
            </a:extLst>
          </p:cNvPr>
          <p:cNvSpPr/>
          <p:nvPr/>
        </p:nvSpPr>
        <p:spPr>
          <a:xfrm>
            <a:off x="3447288" y="309067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Adopción 2024 vs. 2023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A3303A3-61B5-9930-CDCD-5F0A7543BD7E}"/>
              </a:ext>
            </a:extLst>
          </p:cNvPr>
          <p:cNvSpPr/>
          <p:nvPr/>
        </p:nvSpPr>
        <p:spPr>
          <a:xfrm>
            <a:off x="3447288" y="3438144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587"/>
                </a:solidFill>
              </a:rPr>
              <a:t>50,02% → 49,81%</a:t>
            </a:r>
            <a:endParaRPr lang="en-US" sz="9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4AA6285-293D-C088-2EAC-BCB544EBA115}"/>
              </a:ext>
            </a:extLst>
          </p:cNvPr>
          <p:cNvSpPr/>
          <p:nvPr/>
        </p:nvSpPr>
        <p:spPr>
          <a:xfrm>
            <a:off x="5888736" y="2450592"/>
            <a:ext cx="2487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E212FCE-4605-FD61-ADFB-04A78748EB5A}"/>
              </a:ext>
            </a:extLst>
          </p:cNvPr>
          <p:cNvSpPr/>
          <p:nvPr/>
        </p:nvSpPr>
        <p:spPr>
          <a:xfrm>
            <a:off x="5888736" y="2450592"/>
            <a:ext cx="54864" cy="14173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B10F7D9-154E-7FDA-5FE1-71757F81AC4D}"/>
              </a:ext>
            </a:extLst>
          </p:cNvPr>
          <p:cNvSpPr/>
          <p:nvPr/>
        </p:nvSpPr>
        <p:spPr>
          <a:xfrm>
            <a:off x="6108192" y="2615184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+0,13%</a:t>
            </a:r>
            <a:endParaRPr lang="en-US" sz="2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667F252-9F92-9581-8D92-305481262B04}"/>
              </a:ext>
            </a:extLst>
          </p:cNvPr>
          <p:cNvSpPr/>
          <p:nvPr/>
        </p:nvSpPr>
        <p:spPr>
          <a:xfrm>
            <a:off x="6108192" y="309067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DAU promedio</a:t>
            </a: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AFC106F-E318-D0D4-42D2-A16C3A00303A}"/>
              </a:ext>
            </a:extLst>
          </p:cNvPr>
          <p:cNvSpPr/>
          <p:nvPr/>
        </p:nvSpPr>
        <p:spPr>
          <a:xfrm>
            <a:off x="6108192" y="3438144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587"/>
                </a:solidFill>
              </a:rPr>
              <a:t>5.034 → 5.041</a:t>
            </a:r>
            <a:endParaRPr lang="en-US" sz="9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9BE47D7-AF53-ABE3-F1F5-F393EC7BF995}"/>
              </a:ext>
            </a:extLst>
          </p:cNvPr>
          <p:cNvSpPr/>
          <p:nvPr/>
        </p:nvSpPr>
        <p:spPr>
          <a:xfrm>
            <a:off x="8714232" y="713232"/>
            <a:ext cx="2907792" cy="3172968"/>
          </a:xfrm>
          <a:prstGeom prst="roundRect">
            <a:avLst>
              <a:gd name="adj" fmla="val 4403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C030C6A-7D70-ABC1-31F1-CF7E1B4965B0}"/>
              </a:ext>
            </a:extLst>
          </p:cNvPr>
          <p:cNvSpPr/>
          <p:nvPr/>
        </p:nvSpPr>
        <p:spPr>
          <a:xfrm>
            <a:off x="8988552" y="996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8DE0E5"/>
                </a:solidFill>
              </a:rPr>
              <a:t>RECOMENDACIÓN PARA GERENCIA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549886E-F253-3938-ED58-A746240A72FE}"/>
              </a:ext>
            </a:extLst>
          </p:cNvPr>
          <p:cNvSpPr/>
          <p:nvPr/>
        </p:nvSpPr>
        <p:spPr>
          <a:xfrm>
            <a:off x="8988552" y="135331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Usar el análisis como línea base, no como criterio único de inversión.</a:t>
            </a:r>
            <a:endParaRPr lang="en-US" sz="18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C80AC5-F8C2-417C-EF57-8E217930C5C0}"/>
              </a:ext>
            </a:extLst>
          </p:cNvPr>
          <p:cNvSpPr/>
          <p:nvPr/>
        </p:nvSpPr>
        <p:spPr>
          <a:xfrm>
            <a:off x="8988552" y="248716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D9E8F2"/>
                </a:solidFill>
              </a:rPr>
              <a:t>El siguiente salto de valor requiere datos más granulares sobre empresas, casos de uso, satisfacción y costos.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30EBF06-B719-4496-1E98-312815659CEF}"/>
              </a:ext>
            </a:extLst>
          </p:cNvPr>
          <p:cNvSpPr/>
          <p:nvPr/>
        </p:nvSpPr>
        <p:spPr>
          <a:xfrm>
            <a:off x="566928" y="43068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123B5D"/>
                </a:solidFill>
              </a:rPr>
              <a:t>MENSAJE CLAVE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288773FF-6E87-B5A2-4DB9-D634A202459F}"/>
              </a:ext>
            </a:extLst>
          </p:cNvPr>
          <p:cNvSpPr/>
          <p:nvPr/>
        </p:nvSpPr>
        <p:spPr>
          <a:xfrm>
            <a:off x="566928" y="4663440"/>
            <a:ext cx="10881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A2633"/>
                </a:solidFill>
              </a:rPr>
              <a:t>La señal dominante es estabilidad, no aceleración. Las diferencias entre segmentos son demasiado pequeñas para justificar por sí solas una priorización comercial.</a:t>
            </a:r>
            <a:endParaRPr lang="en-US" sz="17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A333F8B-E67B-DE43-B0A4-4D3B8517A6B6}"/>
              </a:ext>
            </a:extLst>
          </p:cNvPr>
          <p:cNvSpPr/>
          <p:nvPr/>
        </p:nvSpPr>
        <p:spPr>
          <a:xfrm>
            <a:off x="594360" y="6236208"/>
            <a:ext cx="10835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i="1" dirty="0">
                <a:solidFill>
                  <a:srgbClr val="7B8794"/>
                </a:solidFill>
              </a:rPr>
              <a:t>Fuente: resultados y conclusiones del notebook. La base no contiene ID de empresa y cubre 2023–2024.</a:t>
            </a:r>
            <a:endParaRPr lang="en-US" sz="780" dirty="0"/>
          </a:p>
        </p:txBody>
      </p:sp>
      <p:sp>
        <p:nvSpPr>
          <p:cNvPr id="27" name="Slide Number Placeholder 0">
            <a:extLst>
              <a:ext uri="{FF2B5EF4-FFF2-40B4-BE49-F238E27FC236}">
                <a16:creationId xmlns:a16="http://schemas.microsoft.com/office/drawing/2014/main" id="{DDFDD5A8-A427-8880-F87B-0FA24755816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01 ·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¿Qué queremos entender sobre la adopción de IA?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Enfoque orientado a preguntas de negocio, no a una colección de gráficos.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10863072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901952"/>
            <a:ext cx="48463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5681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536192" y="183794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3B5D"/>
                </a:solidFill>
              </a:rPr>
              <a:t>Tamaño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70632" y="1810512"/>
            <a:ext cx="8366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A2633"/>
                </a:solidFill>
              </a:rPr>
              <a:t>¿Las empresas pequeñas, medianas o enterprise muestran niveles distintos de adopción?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715768"/>
            <a:ext cx="10863072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926080"/>
            <a:ext cx="48463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2980944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36192" y="28620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3B5D"/>
                </a:solidFill>
              </a:rPr>
              <a:t>Tecnología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70632" y="2834640"/>
            <a:ext cx="8366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A2633"/>
                </a:solidFill>
              </a:rPr>
              <a:t>¿IA de texto o de imagen presenta una ventaja consistente entre industrias?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3739896"/>
            <a:ext cx="10863072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3950208"/>
            <a:ext cx="48463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4005072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536192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3B5D"/>
                </a:solidFill>
              </a:rPr>
              <a:t>Evolución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70632" y="3858768"/>
            <a:ext cx="8366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A2633"/>
                </a:solidFill>
              </a:rPr>
              <a:t>¿La adopción y el uso diario están acelerándose entre 2023 y 2024?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4764024"/>
            <a:ext cx="10863072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" y="4974336"/>
            <a:ext cx="48463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502920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36192" y="491032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3B5D"/>
                </a:solidFill>
              </a:rPr>
              <a:t>Engagement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70632" y="4882896"/>
            <a:ext cx="8366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A2633"/>
                </a:solidFill>
              </a:rPr>
              <a:t>¿La presencia de una herramienta en la muestra implica mayor uso diario?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8368" y="5797296"/>
            <a:ext cx="10863072" cy="438912"/>
          </a:xfrm>
          <a:prstGeom prst="roundRect">
            <a:avLst>
              <a:gd name="adj" fmla="val 29167"/>
            </a:avLst>
          </a:prstGeom>
          <a:solidFill>
            <a:srgbClr val="EAF6F7"/>
          </a:solidFill>
          <a:ln w="12700">
            <a:solidFill>
              <a:srgbClr val="EAF6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591616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23B5D"/>
                </a:solidFill>
              </a:rPr>
              <a:t>Criterio de lectura: diferencias pequeñas en puntos porcentuales se consideran sin relevancia práctica.</a:t>
            </a:r>
            <a:endParaRPr lang="en-US" sz="96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02 · DATASET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Base de análisis y alcance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La lectura es agregada: cada fila representa una observación de adopción y uso.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215798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664208"/>
            <a:ext cx="54864" cy="1234440"/>
          </a:xfrm>
          <a:prstGeom prst="rect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82880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145.000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77824" y="230428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registros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80944" y="1664208"/>
            <a:ext cx="215798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80944" y="1664208"/>
            <a:ext cx="5486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82880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200400" y="230428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variables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0" y="1664208"/>
            <a:ext cx="215798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0" y="1664208"/>
            <a:ext cx="54864" cy="1234440"/>
          </a:xfrm>
          <a:prstGeom prst="rect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22976" y="182880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2023–2024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522976" y="230428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período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26096" y="1664208"/>
            <a:ext cx="215798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26096" y="1664208"/>
            <a:ext cx="54864" cy="1234440"/>
          </a:xfrm>
          <a:prstGeom prst="rect">
            <a:avLst/>
          </a:prstGeom>
          <a:solidFill>
            <a:srgbClr val="2B8A6E"/>
          </a:solidFill>
          <a:ln w="12700">
            <a:solidFill>
              <a:srgbClr val="2B8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182880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845552" y="230428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nulos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48672" y="1664208"/>
            <a:ext cx="1572768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48672" y="1664208"/>
            <a:ext cx="54864" cy="1234440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68128" y="182880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0168128" y="2304288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duplicados exactos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3200400"/>
            <a:ext cx="5212080" cy="2999232"/>
          </a:xfrm>
          <a:prstGeom prst="roundRect">
            <a:avLst>
              <a:gd name="adj" fmla="val 5426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34747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0C8E9B"/>
                </a:solidFill>
              </a:rPr>
              <a:t>VARIABLES PRINCIPALES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2688" y="3895344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7280" y="382219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País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32688" y="4398264"/>
            <a:ext cx="73152" cy="7315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43251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Industria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97280" y="482803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Herramienta de IA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32688" y="3895344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1352" y="56875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Tasa de adopción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32688" y="4398264"/>
            <a:ext cx="73152" cy="7315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2688" y="3895344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" y="382219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País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32688" y="4379976"/>
            <a:ext cx="73152" cy="7315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32688" y="4864608"/>
            <a:ext cx="73152" cy="73152"/>
          </a:xfrm>
          <a:prstGeom prst="ellipse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2688" y="5349240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97280" y="527608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Tasa de adopción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32688" y="5833872"/>
            <a:ext cx="73152" cy="7315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97280" y="57607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DAU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264408" y="3895344"/>
            <a:ext cx="73152" cy="73152"/>
          </a:xfrm>
          <a:prstGeom prst="ellipse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29000" y="382219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Año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3264408" y="4379976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29000" y="4306824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Feedback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264408" y="4864608"/>
            <a:ext cx="73152" cy="7315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29000" y="4791456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Grupo etario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264408" y="5349240"/>
            <a:ext cx="73152" cy="73152"/>
          </a:xfrm>
          <a:prstGeom prst="ellipse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29000" y="527608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A2633"/>
                </a:solidFill>
              </a:rPr>
              <a:t>Tamaño de empresa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089904" y="3200400"/>
            <a:ext cx="5431536" cy="2359152"/>
          </a:xfrm>
          <a:prstGeom prst="roundRect">
            <a:avLst>
              <a:gd name="adj" fmla="val 542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82512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23B5D"/>
                </a:solidFill>
              </a:rPr>
              <a:t>QUÉ PERMITE / QUÉ NO PERMITE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00800" y="3941064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65392" y="3867912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A2633"/>
                </a:solidFill>
              </a:rPr>
              <a:t>Sí: comparar niveles agregados de adopción y uso.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00800" y="4425696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65392" y="4352544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A2633"/>
                </a:solidFill>
              </a:rPr>
              <a:t>Sí: describir diferencias por tamaño, industria y herramienta.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400800" y="4910328"/>
            <a:ext cx="73152" cy="73152"/>
          </a:xfrm>
          <a:prstGeom prst="ellipse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65392" y="4837176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A2633"/>
                </a:solidFill>
              </a:rPr>
              <a:t>No: contar empresas únicas ni seguir la misma empresa entre años.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94360" y="6236208"/>
            <a:ext cx="10835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i="1" dirty="0">
                <a:solidFill>
                  <a:srgbClr val="7B8794"/>
                </a:solidFill>
              </a:rPr>
              <a:t>Fuente: notebook, sección “Fuente y alcance del dataset” y “Limpieza y preparación”.</a:t>
            </a:r>
            <a:endParaRPr lang="en-US" sz="780" dirty="0"/>
          </a:p>
        </p:txBody>
      </p:sp>
      <p:sp>
        <p:nvSpPr>
          <p:cNvPr id="6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66" name="Shape 42">
            <a:extLst>
              <a:ext uri="{FF2B5EF4-FFF2-40B4-BE49-F238E27FC236}">
                <a16:creationId xmlns:a16="http://schemas.microsoft.com/office/drawing/2014/main" id="{CCEE2FFE-C39B-E79E-6152-F2B0ECE14534}"/>
              </a:ext>
            </a:extLst>
          </p:cNvPr>
          <p:cNvSpPr/>
          <p:nvPr/>
        </p:nvSpPr>
        <p:spPr>
          <a:xfrm>
            <a:off x="3282696" y="5896187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03 · METODOLOGÍA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De datos crudos a evidencia ejecutiva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Proceso reproducible y centrado en calidad, comparabilidad y lectura de negocio.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21792" y="1920240"/>
            <a:ext cx="1993392" cy="2148840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121408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1762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" y="257860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kern="0" spc="110" dirty="0">
                <a:solidFill>
                  <a:srgbClr val="0C8E9B"/>
                </a:solidFill>
              </a:rPr>
              <a:t>VALIDACIÓN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786384" y="289864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A2633"/>
                </a:solidFill>
              </a:rPr>
              <a:t>Calidad del archivo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86384" y="351129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7587"/>
                </a:solidFill>
              </a:rPr>
              <a:t>145k filas · tipos · nulos · duplicados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651760" y="2743200"/>
            <a:ext cx="201168" cy="438912"/>
          </a:xfrm>
          <a:prstGeom prst="chevron">
            <a:avLst/>
          </a:prstGeom>
          <a:solidFill>
            <a:srgbClr val="C7D5DF"/>
          </a:solidFill>
          <a:ln w="12700">
            <a:solidFill>
              <a:srgbClr val="C7D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1216" y="1920240"/>
            <a:ext cx="1993392" cy="2148840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35808" y="2121408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35808" y="21762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35808" y="257860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kern="0" spc="110" dirty="0">
                <a:solidFill>
                  <a:srgbClr val="0C8E9B"/>
                </a:solidFill>
              </a:rPr>
              <a:t>PREPARACIÓN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3035808" y="289864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A2633"/>
                </a:solidFill>
              </a:rPr>
              <a:t>Estandarización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35808" y="351129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7587"/>
                </a:solidFill>
              </a:rPr>
              <a:t>Categorías de IA y orden temporal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901184" y="2743200"/>
            <a:ext cx="201168" cy="438912"/>
          </a:xfrm>
          <a:prstGeom prst="chevron">
            <a:avLst/>
          </a:prstGeom>
          <a:solidFill>
            <a:srgbClr val="C7D5DF"/>
          </a:solidFill>
          <a:ln w="12700">
            <a:solidFill>
              <a:srgbClr val="C7D5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1920240"/>
            <a:ext cx="1993392" cy="2148840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85232" y="2121408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85232" y="21762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85232" y="257860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kern="0" spc="110" dirty="0">
                <a:solidFill>
                  <a:srgbClr val="0C8E9B"/>
                </a:solidFill>
              </a:rPr>
              <a:t>MÉTRICAS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5285232" y="289864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A2633"/>
                </a:solidFill>
              </a:rPr>
              <a:t>KPIs y variaciones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85232" y="351129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7587"/>
                </a:solidFill>
              </a:rPr>
              <a:t>Adopción · DAU · YoY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150608" y="2743200"/>
            <a:ext cx="201168" cy="438912"/>
          </a:xfrm>
          <a:prstGeom prst="chevron">
            <a:avLst/>
          </a:prstGeom>
          <a:solidFill>
            <a:srgbClr val="C7D5DF"/>
          </a:solidFill>
          <a:ln w="12700">
            <a:solidFill>
              <a:srgbClr val="C7D5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70064" y="1920240"/>
            <a:ext cx="1993392" cy="2148840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34656" y="2121408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34656" y="21762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34656" y="257860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kern="0" spc="110" dirty="0">
                <a:solidFill>
                  <a:srgbClr val="0C8E9B"/>
                </a:solidFill>
              </a:rPr>
              <a:t>EDA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7534656" y="289864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A2633"/>
                </a:solidFill>
              </a:rPr>
              <a:t>Comparaciones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34656" y="351129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7587"/>
                </a:solidFill>
              </a:rPr>
              <a:t>Empresa · industria · herramienta · año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9400032" y="2743200"/>
            <a:ext cx="201168" cy="438912"/>
          </a:xfrm>
          <a:prstGeom prst="chevron">
            <a:avLst/>
          </a:prstGeom>
          <a:solidFill>
            <a:srgbClr val="C7D5DF"/>
          </a:solidFill>
          <a:ln w="12700">
            <a:solidFill>
              <a:srgbClr val="C7D5D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19488" y="1920240"/>
            <a:ext cx="1993392" cy="2148840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84080" y="2121408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84080" y="21762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84080" y="257860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kern="0" spc="110" dirty="0">
                <a:solidFill>
                  <a:srgbClr val="0C8E9B"/>
                </a:solidFill>
              </a:rPr>
              <a:t>SÍNTESIS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9784080" y="289864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A2633"/>
                </a:solidFill>
              </a:rPr>
              <a:t>Hallazgos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784080" y="351129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7587"/>
                </a:solidFill>
              </a:rPr>
              <a:t>Separar señal de diferencias marginales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21792" y="4626864"/>
            <a:ext cx="10863072" cy="960120"/>
          </a:xfrm>
          <a:prstGeom prst="roundRect">
            <a:avLst>
              <a:gd name="adj" fmla="val 13333"/>
            </a:avLst>
          </a:prstGeom>
          <a:solidFill>
            <a:srgbClr val="EAF6F7"/>
          </a:solidFill>
          <a:ln w="12700">
            <a:solidFill>
              <a:srgbClr val="EAF6F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6112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3B5D"/>
                </a:solidFill>
              </a:rPr>
              <a:t>Principio de interpretación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8064" y="4800600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A2633"/>
                </a:solidFill>
              </a:rPr>
              <a:t>Una diferencia numérica no equivale automáticamente a una diferencia estratégica: el análisis prioriza magnitud, consistencia y limitaciones del dataset.</a:t>
            </a:r>
            <a:endParaRPr lang="en-US" sz="115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04 · KPIS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Panel ejecutivo de referencia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Tres indicadores resumen la señal principal; el resto aporta contexto.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3273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664208"/>
            <a:ext cx="54864" cy="1572768"/>
          </a:xfrm>
          <a:prstGeom prst="rect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828800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49,81%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77824" y="2304288"/>
            <a:ext cx="290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Adopción promedio · 2024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2807208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587"/>
                </a:solidFill>
              </a:rPr>
              <a:t>vs. 50,02% en 2023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05656" y="1664208"/>
            <a:ext cx="3273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05656" y="1664208"/>
            <a:ext cx="54864" cy="157276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5112" y="1828800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5.041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325112" y="2304288"/>
            <a:ext cx="290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DAU promedio · 2024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25112" y="2807208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587"/>
                </a:solidFill>
              </a:rPr>
              <a:t>vs. 5.034 en 2023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52944" y="1664208"/>
            <a:ext cx="3273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52944" y="1664208"/>
            <a:ext cx="54864" cy="1572768"/>
          </a:xfrm>
          <a:prstGeom prst="rect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0" y="1828800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3B5D"/>
                </a:solidFill>
              </a:rPr>
              <a:t>−0,21 pp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772400" y="2304288"/>
            <a:ext cx="290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A2633"/>
                </a:solidFill>
              </a:rPr>
              <a:t>Cambio de adopción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0" y="2807208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587"/>
                </a:solidFill>
              </a:rPr>
              <a:t>variación 2023 → 2024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3794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23B5D"/>
                </a:solidFill>
              </a:rPr>
              <a:t>TENDENCIA 2023 → 2024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97280" y="4736592"/>
            <a:ext cx="2331720" cy="0"/>
          </a:xfrm>
          <a:prstGeom prst="line">
            <a:avLst/>
          </a:prstGeom>
          <a:noFill/>
          <a:ln w="38100">
            <a:solidFill>
              <a:srgbClr val="0C8E9B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1024128" y="4663440"/>
            <a:ext cx="146304" cy="146304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01568" y="4663439"/>
            <a:ext cx="146304" cy="146304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91947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5D"/>
                </a:solidFill>
              </a:rPr>
              <a:t>50,02%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31820" y="48280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5D"/>
                </a:solidFill>
              </a:rPr>
              <a:t>49,81%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572768" y="54132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587"/>
                </a:solidFill>
              </a:rPr>
              <a:t>Adopción promedio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08576" y="3794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23B5D"/>
                </a:solidFill>
              </a:rPr>
              <a:t>USO DIARIO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47488" y="4736592"/>
            <a:ext cx="2304288" cy="0"/>
          </a:xfrm>
          <a:prstGeom prst="line">
            <a:avLst/>
          </a:prstGeom>
          <a:noFill/>
          <a:ln w="38100">
            <a:solidFill>
              <a:srgbClr val="6C5C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4336" y="4663440"/>
            <a:ext cx="146304" cy="146304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32980" y="4663440"/>
            <a:ext cx="146304" cy="146304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491947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5D"/>
                </a:solidFill>
              </a:rPr>
              <a:t>5.034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77456" y="486460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5D"/>
                </a:solidFill>
              </a:rPr>
              <a:t>5.041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87568" y="54132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587"/>
                </a:solidFill>
              </a:rPr>
              <a:t>DAU promedio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284464" y="3675888"/>
            <a:ext cx="3236976" cy="1947672"/>
          </a:xfrm>
          <a:prstGeom prst="roundRect">
            <a:avLst>
              <a:gd name="adj" fmla="val 6573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40496" y="39319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8DE0E5"/>
                </a:solidFill>
              </a:rPr>
              <a:t>LECTURA GERENCIAL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540496" y="4315968"/>
            <a:ext cx="248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 actividad diaria permanece prácticamente plana mientras la adopción cede levemente.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40496" y="52120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D9E8F2"/>
                </a:solidFill>
              </a:rPr>
              <a:t>No hay señal de aceleración general en el período observado.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94360" y="6236208"/>
            <a:ext cx="10835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i="1" dirty="0">
                <a:solidFill>
                  <a:srgbClr val="7B8794"/>
                </a:solidFill>
              </a:rPr>
              <a:t>Fuente: notebook, EDA 3 y KPIs principales.</a:t>
            </a:r>
            <a:endParaRPr lang="en-US" sz="78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05 · HALLAZGO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El tamaño de empresa no genera una brecha práctica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Las tres categorías se concentran prácticamente en el mismo nivel de adopción.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77824" y="5394960"/>
            <a:ext cx="7818120" cy="0"/>
          </a:xfrm>
          <a:prstGeom prst="line">
            <a:avLst/>
          </a:prstGeom>
          <a:noFill/>
          <a:ln w="8890">
            <a:solidFill>
              <a:srgbClr val="E1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30352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7587"/>
                </a:solidFill>
              </a:rPr>
              <a:t>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77824" y="4652010"/>
            <a:ext cx="7818120" cy="0"/>
          </a:xfrm>
          <a:prstGeom prst="line">
            <a:avLst/>
          </a:prstGeom>
          <a:noFill/>
          <a:ln w="8890">
            <a:solidFill>
              <a:srgbClr val="E1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56057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7587"/>
                </a:solidFill>
              </a:rPr>
              <a:t>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77824" y="3909060"/>
            <a:ext cx="7818120" cy="0"/>
          </a:xfrm>
          <a:prstGeom prst="line">
            <a:avLst/>
          </a:prstGeom>
          <a:noFill/>
          <a:ln w="8890">
            <a:solidFill>
              <a:srgbClr val="E1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81762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7587"/>
                </a:solidFill>
              </a:rPr>
              <a:t>50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7824" y="3166110"/>
            <a:ext cx="7818120" cy="0"/>
          </a:xfrm>
          <a:prstGeom prst="line">
            <a:avLst/>
          </a:prstGeom>
          <a:noFill/>
          <a:ln w="8890">
            <a:solidFill>
              <a:srgbClr val="E1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7467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7587"/>
                </a:solidFill>
              </a:rPr>
              <a:t>75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2423160"/>
            <a:ext cx="7818120" cy="0"/>
          </a:xfrm>
          <a:prstGeom prst="line">
            <a:avLst/>
          </a:prstGeom>
          <a:noFill/>
          <a:ln w="8890">
            <a:solidFill>
              <a:srgbClr val="E1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33172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7587"/>
                </a:solidFill>
              </a:rPr>
              <a:t>100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0120" y="3907871"/>
            <a:ext cx="1600200" cy="1487089"/>
          </a:xfrm>
          <a:prstGeom prst="rect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587831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B5D"/>
                </a:solidFill>
              </a:rPr>
              <a:t>50,04%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55321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633"/>
                </a:solidFill>
              </a:rPr>
              <a:t>Startup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566160" y="3913815"/>
            <a:ext cx="1600200" cy="1481145"/>
          </a:xfrm>
          <a:prstGeom prst="rect">
            <a:avLst/>
          </a:prstGeom>
          <a:solidFill>
            <a:srgbClr val="1D527A"/>
          </a:solidFill>
          <a:ln w="12700">
            <a:solidFill>
              <a:srgbClr val="1D52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3593775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B5D"/>
                </a:solidFill>
              </a:rPr>
              <a:t>49,84%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66160" y="55321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633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3916787"/>
            <a:ext cx="1600200" cy="1478173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72200" y="3596747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B5D"/>
                </a:solidFill>
              </a:rPr>
              <a:t>49,74%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55321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633"/>
                </a:solidFill>
              </a:rPr>
              <a:t>SME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75320" y="1783080"/>
            <a:ext cx="3246120" cy="361188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58784" y="2084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0C8E9B"/>
                </a:solidFill>
              </a:rPr>
              <a:t>DIFERENCIA MÁXIMA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40496" y="24688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23B5D"/>
                </a:solidFill>
              </a:rPr>
              <a:t>0,30</a:t>
            </a:r>
            <a:endParaRPr lang="en-US" sz="3100" dirty="0"/>
          </a:p>
        </p:txBody>
      </p:sp>
      <p:sp>
        <p:nvSpPr>
          <p:cNvPr id="27" name="Text 25"/>
          <p:cNvSpPr/>
          <p:nvPr/>
        </p:nvSpPr>
        <p:spPr>
          <a:xfrm>
            <a:off x="8558784" y="30175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587"/>
                </a:solidFill>
              </a:rPr>
              <a:t>puntos porcentuales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58784" y="35478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5D"/>
                </a:solidFill>
              </a:rPr>
              <a:t>Conclusión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58784" y="389534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2633"/>
                </a:solidFill>
              </a:rPr>
              <a:t>El tamaño de empresa, por sí solo, no permite priorizar un segmento comercial.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558784" y="47914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67587"/>
                </a:solidFill>
              </a:rPr>
              <a:t>La diferencia observada es pequeña frente al nivel general de adopción.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" y="6236208"/>
            <a:ext cx="10835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i="1" dirty="0">
                <a:solidFill>
                  <a:srgbClr val="7B8794"/>
                </a:solidFill>
              </a:rPr>
              <a:t>Fuente: notebook, EDA 1 y hallazgo principal por tamaño de empresa.</a:t>
            </a:r>
            <a:endParaRPr lang="en-US" sz="78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06 · HALLAZGOS 2 Y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Ni la categoría de IA ni el año muestran una ruptura clara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La señal es consistente: diferencias pequeñas y estabilidad agregada.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572768"/>
            <a:ext cx="507492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4708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0C8E9B"/>
                </a:solidFill>
              </a:rPr>
              <a:t>TEXTO VS. IMAGEN POR INDUSTRIA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23042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587"/>
                </a:solidFill>
              </a:rPr>
              <a:t>Brecha máxima observada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61518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</a:rPr>
              <a:t>0,58 pp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32688" y="336499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633"/>
                </a:solidFill>
              </a:rPr>
              <a:t>Transporte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03120" y="3465576"/>
            <a:ext cx="2514600" cy="0"/>
          </a:xfrm>
          <a:prstGeom prst="line">
            <a:avLst/>
          </a:prstGeom>
          <a:noFill/>
          <a:ln w="38100">
            <a:solidFill>
              <a:srgbClr val="C8D5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87675" y="3401568"/>
            <a:ext cx="128016" cy="128016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25696" y="3401568"/>
            <a:ext cx="128016" cy="128016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29968" y="372160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5CE7"/>
                </a:solidFill>
              </a:rPr>
              <a:t>Imagen 49,52%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10712" y="372160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C8E9B"/>
                </a:solidFill>
              </a:rPr>
              <a:t>Texto 50,10%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32688" y="431596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633"/>
                </a:solidFill>
              </a:rPr>
              <a:t>Educación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03120" y="4416552"/>
            <a:ext cx="2514600" cy="0"/>
          </a:xfrm>
          <a:prstGeom prst="line">
            <a:avLst/>
          </a:prstGeom>
          <a:noFill/>
          <a:ln w="38100">
            <a:solidFill>
              <a:srgbClr val="C8D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93746" y="4352544"/>
            <a:ext cx="128016" cy="128016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19626" y="4352544"/>
            <a:ext cx="128016" cy="128016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467258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C8E9B"/>
                </a:solidFill>
              </a:rPr>
              <a:t>Texto 49,56%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83280" y="467258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5CE7"/>
                </a:solidFill>
              </a:rPr>
              <a:t>Imagen 50,06%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32688" y="528523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67587"/>
                </a:solidFill>
              </a:rPr>
              <a:t>La dirección de la diferencia cambia según la industria.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89320" y="1572768"/>
            <a:ext cx="5532120" cy="4251960"/>
          </a:xfrm>
          <a:prstGeom prst="roundRect">
            <a:avLst>
              <a:gd name="adj" fmla="val 30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184708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123B5D"/>
                </a:solidFill>
              </a:rPr>
              <a:t>EVOLUCIÓN 2023 → 2024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2677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633"/>
                </a:solidFill>
              </a:rPr>
              <a:t>Adopción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931152" y="2642616"/>
            <a:ext cx="3246120" cy="0"/>
          </a:xfrm>
          <a:prstGeom prst="line">
            <a:avLst/>
          </a:prstGeom>
          <a:noFill/>
          <a:ln w="38100">
            <a:solidFill>
              <a:srgbClr val="0C8E9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48856" y="2560320"/>
            <a:ext cx="164592" cy="16459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094976" y="2377440"/>
            <a:ext cx="164592" cy="16459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01968" y="2926080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B5D"/>
                </a:solidFill>
              </a:rPr>
              <a:t>50,02%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857232" y="2743200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B5D"/>
                </a:solidFill>
              </a:rPr>
              <a:t>49,81%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09360" y="334670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633"/>
                </a:solidFill>
              </a:rPr>
              <a:t>DAU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31152" y="3721608"/>
            <a:ext cx="3246120" cy="0"/>
          </a:xfrm>
          <a:prstGeom prst="line">
            <a:avLst/>
          </a:prstGeom>
          <a:noFill/>
          <a:ln w="38100">
            <a:solidFill>
              <a:srgbClr val="6C5C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48856" y="3639312"/>
            <a:ext cx="164592" cy="16459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94976" y="3584448"/>
            <a:ext cx="164592" cy="16459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4005072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B5D"/>
                </a:solidFill>
              </a:rPr>
              <a:t>5.034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838944" y="3931920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3B5D"/>
                </a:solidFill>
              </a:rPr>
              <a:t>5.041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91072" y="4526280"/>
            <a:ext cx="4919472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10528" y="473659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23B5D"/>
                </a:solidFill>
              </a:rPr>
              <a:t>Lectura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469087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A2633"/>
                </a:solidFill>
              </a:rPr>
              <a:t>Adopción y uso diario permanecen esencialmente estables.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94360" y="6236208"/>
            <a:ext cx="10835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i="1" dirty="0">
                <a:solidFill>
                  <a:srgbClr val="7B8794"/>
                </a:solidFill>
              </a:rPr>
              <a:t>Fuente: notebook, EDA 2 y EDA 3. Valores de extremos industriales explicitados en “Hallazgos principales”.</a:t>
            </a:r>
            <a:endParaRPr lang="en-US" sz="78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07 · HALLAZGO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Presencia en la muestra ≠ mayor engagement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La frecuencia de registros y el uso diario son dimensiones distintas.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627632"/>
            <a:ext cx="5623560" cy="4315968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191109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0C8E9B"/>
                </a:solidFill>
              </a:rPr>
              <a:t>PARTICIPACIÓN DE REGISTROS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50976" y="24688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633"/>
                </a:solidFill>
              </a:rPr>
              <a:t>ChatGPT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74520" y="2450592"/>
            <a:ext cx="3493008" cy="256032"/>
          </a:xfrm>
          <a:prstGeom prst="rect">
            <a:avLst/>
          </a:prstGeom>
          <a:solidFill>
            <a:srgbClr val="E9EFF4"/>
          </a:solidFill>
          <a:ln w="12700">
            <a:solidFill>
              <a:srgbClr val="E9EF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4520" y="2450592"/>
            <a:ext cx="1399032" cy="256032"/>
          </a:xfrm>
          <a:prstGeom prst="rect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68112" y="242316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23B5D"/>
                </a:solidFill>
              </a:rPr>
              <a:t>40,03%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74520" y="282549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587"/>
                </a:solidFill>
              </a:rPr>
              <a:t>58.045 registros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50976" y="3419856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667587"/>
                </a:solidFill>
              </a:rPr>
              <a:t>Esto describe composición de la muestra, no empresas únicas.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" y="40873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6C5CE7"/>
                </a:solidFill>
              </a:rPr>
              <a:t>USO DIARIO PROMEDIO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448902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633"/>
                </a:solidFill>
              </a:rPr>
              <a:t>Claude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452628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3B5D"/>
                </a:solidFill>
              </a:rPr>
              <a:t>5.063,64 DAU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2416" y="496976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633"/>
                </a:solidFill>
              </a:rPr>
              <a:t>ChatGPT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97433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3B5D"/>
                </a:solidFill>
              </a:rPr>
              <a:t>5.030,00 DAU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4760" y="46542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C5CE7"/>
                </a:solidFill>
              </a:rPr>
              <a:t>Diferencia: ≈ 34 DAU promedio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65392" y="1627632"/>
            <a:ext cx="4956048" cy="4315968"/>
          </a:xfrm>
          <a:prstGeom prst="roundRect">
            <a:avLst>
              <a:gd name="adj" fmla="val 2966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76288" y="193852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8DE0E5"/>
                </a:solidFill>
              </a:rPr>
              <a:t>IMPLICACIÓN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76288" y="240487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No elegir una herramienta solo por su “peso” en la base.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912864" y="3474720"/>
            <a:ext cx="73152" cy="73152"/>
          </a:xfrm>
          <a:prstGeom prst="ellipse">
            <a:avLst/>
          </a:prstGeom>
          <a:solidFill>
            <a:srgbClr val="8DE0E5"/>
          </a:solidFill>
          <a:ln w="12700">
            <a:solidFill>
              <a:srgbClr val="8DE0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77456" y="3401568"/>
            <a:ext cx="3977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E7EFF5"/>
                </a:solidFill>
              </a:rPr>
              <a:t>La presencia de registros y el engagement miden cosas diferentes.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912864" y="4096512"/>
            <a:ext cx="73152" cy="73152"/>
          </a:xfrm>
          <a:prstGeom prst="ellipse">
            <a:avLst/>
          </a:prstGeom>
          <a:solidFill>
            <a:srgbClr val="8DE0E5"/>
          </a:solidFill>
          <a:ln w="12700">
            <a:solidFill>
              <a:srgbClr val="8DE0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77456" y="4023360"/>
            <a:ext cx="3977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E7EFF5"/>
                </a:solidFill>
              </a:rPr>
              <a:t>La brecha de DAU entre Claude y ChatGPT es reducida.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6912864" y="4718304"/>
            <a:ext cx="73152" cy="73152"/>
          </a:xfrm>
          <a:prstGeom prst="ellipse">
            <a:avLst/>
          </a:prstGeom>
          <a:solidFill>
            <a:srgbClr val="8DE0E5"/>
          </a:solidFill>
          <a:ln w="12700">
            <a:solidFill>
              <a:srgbClr val="8DE0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77456" y="4645152"/>
            <a:ext cx="3977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E7EFF5"/>
                </a:solidFill>
              </a:rPr>
              <a:t>La decisión requiere costos, casos de uso y satisfacción.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594360" y="6236208"/>
            <a:ext cx="10835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i="1" dirty="0">
                <a:solidFill>
                  <a:srgbClr val="7B8794"/>
                </a:solidFill>
              </a:rPr>
              <a:t>Fuente: notebook, EDA 4–5 y hallazgos principales.</a:t>
            </a:r>
            <a:endParaRPr lang="en-US" sz="78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0C8E9B"/>
                </a:solidFill>
              </a:rPr>
              <a:t>08 · CONCLUSIONES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B5D"/>
                </a:solidFill>
              </a:rPr>
              <a:t>Qué debería llevarse gerencia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587"/>
                </a:solidFill>
              </a:rPr>
              <a:t>La conclusión no es “comprar una herramienta”; es mejorar la calidad de la decisión.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627632"/>
            <a:ext cx="6583680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DE5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0C8E9B"/>
                </a:solidFill>
              </a:rPr>
              <a:t>3 CONCLUSIONES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50976" y="2423160"/>
            <a:ext cx="73152" cy="73152"/>
          </a:xfrm>
          <a:prstGeom prst="ellipse">
            <a:avLst/>
          </a:prstGeom>
          <a:solidFill>
            <a:srgbClr val="0C8E9B"/>
          </a:solidFill>
          <a:ln w="12700">
            <a:solidFill>
              <a:srgbClr val="0C8E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350008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A2633"/>
                </a:solidFill>
              </a:rPr>
              <a:t>La adopción agregada ronda el 50% y no presenta diferencias prácticas por tamaño o categoría.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50976" y="3145536"/>
            <a:ext cx="73152" cy="73152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3072384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A2633"/>
                </a:solidFill>
              </a:rPr>
              <a:t>2023–2024 muestra estabilidad: no hay evidencia de aceleración general en esta base.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50976" y="3867912"/>
            <a:ext cx="73152" cy="73152"/>
          </a:xfrm>
          <a:prstGeom prst="ellipse">
            <a:avLst/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794760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A2633"/>
                </a:solidFill>
              </a:rPr>
              <a:t>Presencia y engagement son métricas distintas; no alcanza con un ranking de registros o DAU.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" y="4590288"/>
            <a:ext cx="73152" cy="73152"/>
          </a:xfrm>
          <a:prstGeom prst="ellipse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4517136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A2633"/>
                </a:solidFill>
              </a:rPr>
              <a:t>La prioridad analítica es enriquecer el contexto antes de tomar decisiones de inversión.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498080" y="1627632"/>
            <a:ext cx="4023360" cy="3566160"/>
          </a:xfrm>
          <a:prstGeom prst="roundRect">
            <a:avLst>
              <a:gd name="adj" fmla="val 359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191109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23B5D"/>
                </a:solidFill>
              </a:rPr>
              <a:t>PRÓXIMO PASO RECOMENDADO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790688" y="2432304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248716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0" y="24505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633"/>
                </a:solidFill>
              </a:rPr>
              <a:t>ID de empresa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12480" y="2592324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67587"/>
                </a:solidFill>
              </a:rPr>
              <a:t>medir adopción real por compañía y evolución longitudinal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7790688" y="3273552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90688" y="332841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12480" y="329184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633"/>
                </a:solidFill>
              </a:rPr>
              <a:t>Casos de uso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412480" y="3438144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67587"/>
                </a:solidFill>
              </a:rPr>
              <a:t>comparar utilidad por industria y herramienta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790688" y="4114800"/>
            <a:ext cx="438912" cy="310896"/>
          </a:xfrm>
          <a:prstGeom prst="roundRect">
            <a:avLst>
              <a:gd name="adj" fmla="val 47059"/>
            </a:avLst>
          </a:prstGeom>
          <a:solidFill>
            <a:srgbClr val="E78B35"/>
          </a:solidFill>
          <a:ln w="12700">
            <a:solidFill>
              <a:srgbClr val="E78B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416966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13308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633"/>
                </a:solidFill>
              </a:rPr>
              <a:t>Costo + satisfacción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412480" y="425653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67587"/>
                </a:solidFill>
              </a:rPr>
              <a:t>sumar ROI, feedback y costos por herramienta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58368" y="5422392"/>
            <a:ext cx="10863072" cy="512064"/>
          </a:xfrm>
          <a:prstGeom prst="roundRect">
            <a:avLst>
              <a:gd name="adj" fmla="val 25000"/>
            </a:avLst>
          </a:prstGeom>
          <a:solidFill>
            <a:srgbClr val="FFF4E7"/>
          </a:solidFill>
          <a:ln w="12700">
            <a:solidFill>
              <a:srgbClr val="FFF4E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577840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8A5A1C"/>
                </a:solidFill>
              </a:rPr>
              <a:t>Limitación clave: solo hay dos años y no existe ID de empresa; los resultados son descriptivos y de alcance informativo.</a:t>
            </a:r>
            <a:endParaRPr lang="en-US" sz="96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20">
                <a:solidFill>
                  <a:srgbClr val="6B77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1096</Words>
  <Application>Microsoft Office PowerPoint</Application>
  <PresentationFormat>Panorámica</PresentationFormat>
  <Paragraphs>222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Proyecto de análisis de datos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Adopción y uso de IA en empresas</dc:title>
  <dc:subject>Adopción y uso de IA en empresas</dc:subject>
  <dc:creator>Análisis de Datos</dc:creator>
  <cp:lastModifiedBy>Azathot</cp:lastModifiedBy>
  <cp:revision>56</cp:revision>
  <dcterms:created xsi:type="dcterms:W3CDTF">2026-09-08T14:09:56Z</dcterms:created>
  <dcterms:modified xsi:type="dcterms:W3CDTF">2026-09-08T14:38:59Z</dcterms:modified>
</cp:coreProperties>
</file>